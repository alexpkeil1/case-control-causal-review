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4"/>
  </p:notesMasterIdLst>
  <p:sldIdLst>
    <p:sldId id="275" r:id="rId2"/>
    <p:sldId id="278" r:id="rId3"/>
    <p:sldId id="280" r:id="rId4"/>
    <p:sldId id="285" r:id="rId5"/>
    <p:sldId id="277" r:id="rId6"/>
    <p:sldId id="276" r:id="rId7"/>
    <p:sldId id="282" r:id="rId8"/>
    <p:sldId id="283" r:id="rId9"/>
    <p:sldId id="281" r:id="rId10"/>
    <p:sldId id="284" r:id="rId11"/>
    <p:sldId id="286" r:id="rId12"/>
    <p:sldId id="28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MLE" id="{9F9284C1-B553-2F4C-A59E-6EBB1132FF11}">
          <p14:sldIdLst>
            <p14:sldId id="275"/>
            <p14:sldId id="278"/>
            <p14:sldId id="280"/>
            <p14:sldId id="285"/>
          </p14:sldIdLst>
        </p14:section>
        <p14:section name="Code" id="{8A13730D-A096-0E47-AB2D-F188D5EA39A8}">
          <p14:sldIdLst>
            <p14:sldId id="277"/>
          </p14:sldIdLst>
        </p14:section>
        <p14:section name="Challenges" id="{FCF73E8B-6A10-3E47-B5D0-1ABDDDED2383}">
          <p14:sldIdLst>
            <p14:sldId id="276"/>
            <p14:sldId id="282"/>
            <p14:sldId id="283"/>
            <p14:sldId id="281"/>
            <p14:sldId id="284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>
      <p:cViewPr varScale="1">
        <p:scale>
          <a:sx n="224" d="100"/>
          <a:sy n="224" d="100"/>
        </p:scale>
        <p:origin x="7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5E42C-4155-4ABA-986D-68CCA7DADE1E}" type="datetimeFigureOut">
              <a:rPr lang="fr-CA" smtClean="0"/>
              <a:t>2025-12-03</a:t>
            </a:fld>
            <a:endParaRPr lang="fr-CA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9A9204-6D9B-45CE-99E4-600D70164293}" type="slidenum">
              <a:rPr lang="fr-CA" smtClean="0"/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168020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F757C-6E7D-4A04-9E78-9EF05327E959}" type="datetime1">
              <a:rPr lang="fr-CA" smtClean="0"/>
              <a:t>2025-12-03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086207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4502E-8710-44EB-B867-945023176E39}" type="datetime1">
              <a:rPr lang="fr-CA" smtClean="0"/>
              <a:t>2025-12-03</a:t>
            </a:fld>
            <a:endParaRPr lang="fr-C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246549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3D752-1036-406F-9DAC-A08AD591F3E4}" type="datetime1">
              <a:rPr lang="fr-CA" smtClean="0"/>
              <a:t>2025-12-03</a:t>
            </a:fld>
            <a:endParaRPr lang="fr-C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110752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35D6-4B02-4ADB-A8A3-1ED1BBD75F8E}" type="datetime1">
              <a:rPr lang="fr-CA" smtClean="0"/>
              <a:t>2025-12-03</a:t>
            </a:fld>
            <a:endParaRPr lang="fr-CA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773377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F340-C8C6-40F0-A2DE-1AF461EB7278}" type="datetime1">
              <a:rPr lang="fr-CA" smtClean="0"/>
              <a:t>2025-12-03</a:t>
            </a:fld>
            <a:endParaRPr lang="fr-C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‹#›</a:t>
            </a:fld>
            <a:endParaRPr lang="fr-CA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84334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47D3F-FFDB-4FBA-A326-4593BB87EB5F}" type="datetime1">
              <a:rPr lang="fr-CA" smtClean="0"/>
              <a:t>2025-12-03</a:t>
            </a:fld>
            <a:endParaRPr lang="fr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971443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FC03-67AE-48A8-BA65-D758E186A205}" type="datetime1">
              <a:rPr lang="fr-CA" smtClean="0"/>
              <a:t>2025-12-03</a:t>
            </a:fld>
            <a:endParaRPr lang="fr-C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19605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E478-98C5-4E9C-9CCB-F2DFB9BB0AAE}" type="datetime1">
              <a:rPr lang="fr-CA" smtClean="0"/>
              <a:t>2025-12-03</a:t>
            </a:fld>
            <a:endParaRPr lang="fr-C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fr-C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198284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62A995A-E792-4F5E-836A-D176FE06607D}" type="datetime1">
              <a:rPr lang="fr-CA" smtClean="0"/>
              <a:t>2025-12-03</a:t>
            </a:fld>
            <a:endParaRPr lang="fr-CA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fr-CA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842186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BCF6-BEBF-4C45-87A0-B266047BADBD}" type="datetime1">
              <a:rPr lang="fr-CA" smtClean="0"/>
              <a:t>2025-12-03</a:t>
            </a:fld>
            <a:endParaRPr lang="fr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240801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EFF0F-3AC0-45DD-9C6A-C2499AFE241A}" type="datetime1">
              <a:rPr lang="fr-CA" smtClean="0"/>
              <a:t>2025-12-03</a:t>
            </a:fld>
            <a:endParaRPr lang="fr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13568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274F340-C8C6-40F0-A2DE-1AF461EB7278}" type="datetime1">
              <a:rPr lang="fr-CA" smtClean="0"/>
              <a:t>2025-12-03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F9B31148-FC8D-4BA7-8E33-B3075D7E22F0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58378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5.em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expkeil1/Case-control-causal-review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C7015A-7AEC-98CA-5996-E32B3C8F4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Targeted maximum likelihood estimation – Case control studies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B1805B-253C-3030-A3EA-9539168C0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noProof="0" dirty="0"/>
              <a:t>Building block ideas:</a:t>
            </a:r>
          </a:p>
          <a:p>
            <a:pPr marL="342900" indent="-342900">
              <a:buFont typeface="+mj-lt"/>
              <a:buAutoNum type="alphaLcParenR"/>
            </a:pPr>
            <a:r>
              <a:rPr lang="en-US" b="1" noProof="0" dirty="0"/>
              <a:t>Exposure-side information</a:t>
            </a:r>
            <a:r>
              <a:rPr lang="en-US" noProof="0" dirty="0"/>
              <a:t>: The regression model for </a:t>
            </a:r>
            <a:r>
              <a:rPr lang="en-US" dirty="0"/>
              <a:t>A</a:t>
            </a:r>
            <a:r>
              <a:rPr lang="en-US" noProof="0" dirty="0"/>
              <a:t>, given confounders contains information about how X deviates from an ideal randomized design (e.g. weighting to emulate a trial)</a:t>
            </a:r>
          </a:p>
          <a:p>
            <a:pPr marL="342900" indent="-342900">
              <a:buFont typeface="+mj-lt"/>
              <a:buAutoNum type="alphaLcParenR"/>
            </a:pPr>
            <a:r>
              <a:rPr lang="en-US" b="1" noProof="0" dirty="0"/>
              <a:t>Outcome-side information</a:t>
            </a:r>
            <a:r>
              <a:rPr lang="en-US" noProof="0" dirty="0"/>
              <a:t>: The regression model for Y, given A and covariates contains information about the effect of A on Y (e.g. confounding or adjusting for </a:t>
            </a:r>
            <a:r>
              <a:rPr lang="en-US" dirty="0"/>
              <a:t>”blocks” </a:t>
            </a:r>
            <a:r>
              <a:rPr lang="en-US" noProof="0" dirty="0"/>
              <a:t>in a trial)</a:t>
            </a:r>
          </a:p>
          <a:p>
            <a:pPr marL="342900" indent="-342900">
              <a:buFont typeface="+mj-lt"/>
              <a:buAutoNum type="alphaLcParenR"/>
            </a:pPr>
            <a:r>
              <a:rPr lang="en-US" b="1" dirty="0"/>
              <a:t>Sampling information: </a:t>
            </a:r>
            <a:r>
              <a:rPr lang="en-US" dirty="0"/>
              <a:t>Sampling fractions contain information about how each observation would be represented in a cohort study</a:t>
            </a:r>
            <a:endParaRPr lang="en-US" noProof="0" dirty="0"/>
          </a:p>
          <a:p>
            <a:pPr marL="0" indent="0">
              <a:buNone/>
            </a:pPr>
            <a:r>
              <a:rPr lang="en-US" dirty="0"/>
              <a:t>TMLE is a u</a:t>
            </a:r>
            <a:r>
              <a:rPr lang="en-US" noProof="0" dirty="0" err="1"/>
              <a:t>nion</a:t>
            </a:r>
            <a:r>
              <a:rPr lang="en-US" noProof="0" dirty="0"/>
              <a:t> of ideas:</a:t>
            </a:r>
          </a:p>
          <a:p>
            <a:r>
              <a:rPr lang="en-US" b="1" noProof="0" dirty="0"/>
              <a:t>Cohort</a:t>
            </a:r>
            <a:r>
              <a:rPr lang="en-US" noProof="0" dirty="0"/>
              <a:t>: if we can 1) mimic the randomized design using </a:t>
            </a:r>
            <a:r>
              <a:rPr lang="en-US" b="1" noProof="0" dirty="0"/>
              <a:t>a </a:t>
            </a:r>
            <a:r>
              <a:rPr lang="en-US" noProof="0" dirty="0"/>
              <a:t>and 2) adjust for covariates using </a:t>
            </a:r>
            <a:r>
              <a:rPr lang="en-US" b="1" noProof="0" dirty="0"/>
              <a:t>b</a:t>
            </a:r>
            <a:r>
              <a:rPr lang="en-US" noProof="0" dirty="0"/>
              <a:t>, then we can get some benefits of both actions</a:t>
            </a:r>
          </a:p>
          <a:p>
            <a:r>
              <a:rPr lang="en-US" b="1" dirty="0"/>
              <a:t>Case-control: </a:t>
            </a:r>
            <a:r>
              <a:rPr lang="en-US" dirty="0"/>
              <a:t>If we can use </a:t>
            </a:r>
            <a:r>
              <a:rPr lang="en-US" b="1" dirty="0"/>
              <a:t>c</a:t>
            </a:r>
            <a:r>
              <a:rPr lang="en-US" dirty="0"/>
              <a:t> to weight the case-control data to resemble the cohort, then we can use TMLE as though we were in a cohort</a:t>
            </a:r>
            <a:endParaRPr lang="en-US" b="1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7B2E07D-07E6-51EC-6F3D-B466BF043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29936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EF383-F1F5-5F5D-EE5B-ABB0DD6D6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2B1B75-19BA-F585-400D-D58D0EFA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Targeted maximum likelihood </a:t>
            </a:r>
            <a:r>
              <a:rPr lang="en-US" dirty="0"/>
              <a:t>estimation – Case control studies</a:t>
            </a:r>
            <a:endParaRPr lang="en-US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F9942C-F620-8175-F3DB-110D7208C6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noProof="0" dirty="0"/>
              <a:t>Targeted maximum likelihood estimation builds on Robins et al (1994) to develop estimators of causal effects that leverage outcome-side and exposure-side information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Derives from a simpler algorithm (which Robins and </a:t>
            </a:r>
            <a:r>
              <a:rPr lang="en-US" b="1" dirty="0" err="1"/>
              <a:t>Rotnitzky</a:t>
            </a:r>
            <a:r>
              <a:rPr lang="en-US" b="1" dirty="0"/>
              <a:t> does not always work):</a:t>
            </a:r>
          </a:p>
          <a:p>
            <a:pPr>
              <a:buFontTx/>
              <a:buChar char="-"/>
            </a:pPr>
            <a:r>
              <a:rPr lang="en-US" b="1" dirty="0"/>
              <a:t>Estimate propensity score</a:t>
            </a:r>
          </a:p>
          <a:p>
            <a:pPr>
              <a:buFontTx/>
              <a:buChar char="-"/>
            </a:pPr>
            <a:r>
              <a:rPr lang="en-US" b="1" dirty="0"/>
              <a:t>Regress outcome on exposures, confounders AND propensity score</a:t>
            </a:r>
          </a:p>
          <a:p>
            <a:pPr>
              <a:buFontTx/>
              <a:buChar char="-"/>
            </a:pPr>
            <a:endParaRPr lang="en-US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2AF92E4-E234-6843-71F3-8E6E58D263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10846" y="2638425"/>
            <a:ext cx="2726458" cy="3101975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A06490-0B03-7742-5C87-ADC7999B1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B01EBE-1735-CF7E-877A-15829E07C565}"/>
              </a:ext>
            </a:extLst>
          </p:cNvPr>
          <p:cNvSpPr txBox="1"/>
          <p:nvPr/>
        </p:nvSpPr>
        <p:spPr>
          <a:xfrm>
            <a:off x="6776442" y="5950204"/>
            <a:ext cx="39350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Robins, </a:t>
            </a:r>
            <a:r>
              <a:rPr lang="en-US" dirty="0" err="1"/>
              <a:t>Rotnitzky</a:t>
            </a:r>
            <a:r>
              <a:rPr lang="en-US" dirty="0"/>
              <a:t>, and Zhao. (1994) </a:t>
            </a:r>
            <a:r>
              <a:rPr lang="en-US" i="1" dirty="0"/>
              <a:t>JASA</a:t>
            </a:r>
          </a:p>
          <a:p>
            <a:r>
              <a:rPr lang="en-US" dirty="0"/>
              <a:t>Robins and </a:t>
            </a:r>
            <a:r>
              <a:rPr lang="en-US" dirty="0" err="1"/>
              <a:t>Rotnitzky</a:t>
            </a:r>
            <a:r>
              <a:rPr lang="en-US" dirty="0"/>
              <a:t>, (2001) </a:t>
            </a:r>
            <a:r>
              <a:rPr lang="en-US" i="1" dirty="0"/>
              <a:t>Stat Sin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1D6E63-F674-15C9-C1C8-1CAC28D228CF}"/>
              </a:ext>
            </a:extLst>
          </p:cNvPr>
          <p:cNvSpPr txBox="1"/>
          <p:nvPr/>
        </p:nvSpPr>
        <p:spPr>
          <a:xfrm>
            <a:off x="7110846" y="2244641"/>
            <a:ext cx="2445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Figure from: van der Laan and Rose. </a:t>
            </a:r>
          </a:p>
          <a:p>
            <a:r>
              <a:rPr lang="en-US" sz="1200" i="1" dirty="0"/>
              <a:t>Targeted Learning (Ch 5)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90DE99-A279-16C2-965D-4F477E646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912" y="2686756"/>
            <a:ext cx="9129582" cy="30532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946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31365F-98DF-227A-2E6D-C5EB6AB81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TMLE 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B51F5-CC22-DCA6-CED8-D80953F13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Define case-control weights (using sampling probabilities)</a:t>
            </a:r>
          </a:p>
          <a:p>
            <a:r>
              <a:rPr lang="en-US"/>
              <a:t>Fit weighted model*/intercept-adjusted logistic </a:t>
            </a:r>
            <a:r>
              <a:rPr lang="en-US" dirty="0"/>
              <a:t>regression and predict the outcome for each exposure/covariate combination in the data </a:t>
            </a:r>
          </a:p>
          <a:p>
            <a:r>
              <a:rPr lang="en-US" dirty="0"/>
              <a:t>Fit weighted model to estimate propensity scores</a:t>
            </a:r>
          </a:p>
          <a:p>
            <a:r>
              <a:rPr lang="en-US" dirty="0"/>
              <a:t>Compute “clever covariate” based on propensity score</a:t>
            </a:r>
          </a:p>
          <a:p>
            <a:r>
              <a:rPr lang="en-US" dirty="0"/>
              <a:t>Estimate “fluctuation parameter” in weighted regression of observed outcome on the clever covariate with initial prediction as offset and no intercept</a:t>
            </a:r>
          </a:p>
          <a:p>
            <a:r>
              <a:rPr lang="en-US" dirty="0"/>
              <a:t>Update the predicted outcome via the fluctuation parameter, average over the weighted covariate distribution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A9891B-5F85-F1B3-E0DD-3A8A7F687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3</a:t>
            </a:fld>
            <a:endParaRPr lang="fr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2862ED-0702-0C2A-A765-67A96CFB772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519233" y="3162844"/>
            <a:ext cx="548640" cy="2971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257E32F-7FA6-3193-B018-AE94CA9F367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519233" y="5209843"/>
            <a:ext cx="548640" cy="2743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91D67AA-2069-2B1D-56FC-EBB2952275C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953573" y="4490248"/>
            <a:ext cx="114300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62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8ED9F-56AB-9333-8DA7-1C80366EF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TMLE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FECE5-3342-0E8C-E4EF-A41A9F611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TMLE is very similar in implementation to augmented-IPW, another set of doubly robust methods</a:t>
            </a:r>
          </a:p>
          <a:p>
            <a:pPr marL="228600" lvl="1" indent="0">
              <a:buNone/>
            </a:pPr>
            <a:r>
              <a:rPr lang="en-US" dirty="0"/>
              <a:t>Feasible to use a very similar approach with AIPW for case-control studies</a:t>
            </a:r>
          </a:p>
          <a:p>
            <a:r>
              <a:rPr lang="en-US" dirty="0"/>
              <a:t>Allows many types of parameters to be estimated (OR/RR/RD)</a:t>
            </a:r>
          </a:p>
          <a:p>
            <a:r>
              <a:rPr lang="en-US" dirty="0"/>
              <a:t>Can be tricky to adapt to novel situations, continuous exposures</a:t>
            </a:r>
          </a:p>
          <a:p>
            <a:r>
              <a:rPr lang="en-US" dirty="0"/>
              <a:t>R package “</a:t>
            </a:r>
            <a:r>
              <a:rPr lang="en-US" dirty="0" err="1"/>
              <a:t>tmle</a:t>
            </a:r>
            <a:r>
              <a:rPr lang="en-US" dirty="0"/>
              <a:t>” helps with many standard cohort designs (we will illustrate without the package)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7C17F-A51F-5930-6E10-6C1EC39FC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4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852082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EC4DC-ADB2-3D3A-D8EA-E2C4A9384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72AA32-C833-8F79-099E-01143E368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 Code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54421C-5413-079E-4865-FEE580EB3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Repository of code: </a:t>
            </a:r>
            <a:r>
              <a:rPr lang="en-US" noProof="0" dirty="0">
                <a:hlinkClick r:id="rId2"/>
              </a:rPr>
              <a:t>https://github.com/alexpkeil1/Case-control-causal-review</a:t>
            </a:r>
            <a:endParaRPr lang="en-US" noProof="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Instructions (assuming basic knowledge of R)</a:t>
            </a:r>
          </a:p>
          <a:p>
            <a:pPr>
              <a:buFontTx/>
              <a:buChar char="-"/>
            </a:pPr>
            <a:r>
              <a:rPr lang="en-US" noProof="0" dirty="0"/>
              <a:t>Download repository as zip file (or use </a:t>
            </a:r>
            <a:r>
              <a:rPr lang="en-US" noProof="0" dirty="0">
                <a:latin typeface="American Typewriter" panose="02090604020004020304" pitchFamily="18" charset="77"/>
              </a:rPr>
              <a:t>git</a:t>
            </a:r>
            <a:r>
              <a:rPr lang="en-US" noProof="0" dirty="0"/>
              <a:t> functions, if you know them)</a:t>
            </a:r>
          </a:p>
          <a:p>
            <a:pPr>
              <a:buFontTx/>
              <a:buChar char="-"/>
            </a:pPr>
            <a:r>
              <a:rPr lang="en-US" dirty="0"/>
              <a:t>All files use simulated examples and should work without modifications</a:t>
            </a:r>
          </a:p>
          <a:p>
            <a:pPr lvl="1">
              <a:buFontTx/>
              <a:buChar char="-"/>
            </a:pPr>
            <a:r>
              <a:rPr lang="en-US" dirty="0"/>
              <a:t>Data are generated by simulating a cohort and then sampling cases and controls using cumulative sampling</a:t>
            </a:r>
          </a:p>
          <a:p>
            <a:pPr>
              <a:buFontTx/>
              <a:buChar char="-"/>
            </a:pPr>
            <a:r>
              <a:rPr lang="en-US" dirty="0"/>
              <a:t>Code is commented for implementation details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2AE6A28-EFF3-5E25-5A55-DB2288636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en-US" noProof="0" smtClean="0"/>
              <a:t>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88547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0036A-DF3E-0FD6-7C8B-2D300F3BB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109410-23D4-101A-DDFE-4DADB979D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Challenges and limitations of current approaches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6AA119-85DA-C1D4-3DF6-0FAB89736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Unknown sampling fractions</a:t>
            </a:r>
          </a:p>
          <a:p>
            <a:pPr>
              <a:buFontTx/>
              <a:buChar char="-"/>
            </a:pPr>
            <a:r>
              <a:rPr lang="en-US" dirty="0"/>
              <a:t>Causal odds ratios</a:t>
            </a:r>
          </a:p>
          <a:p>
            <a:pPr>
              <a:buFontTx/>
              <a:buChar char="-"/>
            </a:pPr>
            <a:r>
              <a:rPr lang="en-US" dirty="0"/>
              <a:t>Case/control samples can be drawn multiple ways</a:t>
            </a:r>
          </a:p>
          <a:p>
            <a:pPr>
              <a:buFontTx/>
              <a:buChar char="-"/>
            </a:pPr>
            <a:r>
              <a:rPr lang="en-US" dirty="0"/>
              <a:t>Time-varying confounders affected by prior exposures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91A4880-8D0A-933F-C51C-A64EFB57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841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C3CDB-8CF0-C533-3201-5DE2865D8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”Causal” odds ratios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EFDD0-16DF-DC6C-26E9-11CD5F5F9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Propensity score-based methods don’t address outcome sampling bias</a:t>
            </a:r>
          </a:p>
          <a:p>
            <a:pPr marL="228600" lvl="1" indent="0">
              <a:buNone/>
            </a:pPr>
            <a:r>
              <a:rPr lang="en-US" dirty="0"/>
              <a:t>Most prevalent approaches in our review</a:t>
            </a:r>
          </a:p>
          <a:p>
            <a:r>
              <a:rPr lang="en-US" dirty="0"/>
              <a:t>Marginal ORs not comparable to conditional ORs (comparison with literature is challenging)</a:t>
            </a:r>
          </a:p>
          <a:p>
            <a:r>
              <a:rPr lang="en-US" dirty="0"/>
              <a:t>Greenland challenges the notion that a conditional OR can </a:t>
            </a:r>
            <a:r>
              <a:rPr lang="en-US"/>
              <a:t>be called “causal” </a:t>
            </a:r>
            <a:r>
              <a:rPr lang="en-US" dirty="0"/>
              <a:t>(non-collapsibility)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4163A-5B8D-51FB-3F0D-DE94F7D85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7</a:t>
            </a:fld>
            <a:endParaRPr lang="fr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B498E2-D4B7-CF0F-AE73-4F3050A35A19}"/>
              </a:ext>
            </a:extLst>
          </p:cNvPr>
          <p:cNvSpPr txBox="1"/>
          <p:nvPr/>
        </p:nvSpPr>
        <p:spPr>
          <a:xfrm>
            <a:off x="7993338" y="5937349"/>
            <a:ext cx="2223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Greenland. (1987) </a:t>
            </a:r>
            <a:r>
              <a:rPr lang="en-US" i="1" dirty="0"/>
              <a:t>AJE</a:t>
            </a:r>
          </a:p>
        </p:txBody>
      </p:sp>
    </p:spTree>
    <p:extLst>
      <p:ext uri="{BB962C8B-B14F-4D97-AF65-F5344CB8AC3E}">
        <p14:creationId xmlns:p14="http://schemas.microsoft.com/office/powerpoint/2010/main" val="2958872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7BEEF-D64B-79BF-5CF1-29C0ADE85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Case/Control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C17D0-B110-82BA-9787-E7B8EF674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Matched designs: generally all estimators can accommodate matching</a:t>
            </a:r>
          </a:p>
          <a:p>
            <a:r>
              <a:rPr lang="en-US" dirty="0"/>
              <a:t>Cumulative incidence sampling vs. incidence density sampling</a:t>
            </a:r>
          </a:p>
          <a:p>
            <a:pPr lvl="1"/>
            <a:r>
              <a:rPr lang="en-US" dirty="0"/>
              <a:t>Sampling weights based on P(Y=1) or P(Y=0) are “cumulative”</a:t>
            </a:r>
          </a:p>
          <a:p>
            <a:pPr lvl="1"/>
            <a:r>
              <a:rPr lang="en-US" dirty="0"/>
              <a:t>van der Laan (sort of) extended sampling weights to time-specific outcome probabilities for incidence density sampling</a:t>
            </a:r>
          </a:p>
          <a:p>
            <a:pPr marL="457200" lvl="2" indent="0">
              <a:buNone/>
            </a:pPr>
            <a:r>
              <a:rPr lang="en-US" dirty="0"/>
              <a:t>Can be unstable without many tied event times</a:t>
            </a:r>
          </a:p>
          <a:p>
            <a:r>
              <a:rPr lang="en-US" dirty="0"/>
              <a:t>Case/control sampling in an open cohort design is possible, but causal inference for open cohorts has severe limitations (e.g. results can’t be easily interpreted as emerging from a target trial)</a:t>
            </a:r>
          </a:p>
          <a:p>
            <a:pPr marL="457200" lvl="2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D02DA-A598-E12D-B999-2FFAB4930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8</a:t>
            </a:fld>
            <a:endParaRPr lang="fr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01878B-C85D-5651-6ADB-543DD601D058}"/>
              </a:ext>
            </a:extLst>
          </p:cNvPr>
          <p:cNvSpPr txBox="1"/>
          <p:nvPr/>
        </p:nvSpPr>
        <p:spPr>
          <a:xfrm>
            <a:off x="7061352" y="5893308"/>
            <a:ext cx="2899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van der Laan. (2008) </a:t>
            </a:r>
            <a:r>
              <a:rPr lang="en-US" i="1" dirty="0"/>
              <a:t>Int J Bios</a:t>
            </a:r>
          </a:p>
        </p:txBody>
      </p:sp>
    </p:spTree>
    <p:extLst>
      <p:ext uri="{BB962C8B-B14F-4D97-AF65-F5344CB8AC3E}">
        <p14:creationId xmlns:p14="http://schemas.microsoft.com/office/powerpoint/2010/main" val="1374569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E9E7E-402D-A1E0-53BC-C0407F4EE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Time-varying confounders affected by prior exposures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88AE2-49CE-6A1B-EFD3-5E174B643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5799681" cy="310198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fundamental problem that inspired longitudinal causal inference (Robins (1986) </a:t>
            </a:r>
            <a:r>
              <a:rPr lang="en-US" i="1" dirty="0"/>
              <a:t>Math Mod</a:t>
            </a:r>
            <a:r>
              <a:rPr lang="en-US" dirty="0"/>
              <a:t>)</a:t>
            </a:r>
          </a:p>
          <a:p>
            <a:r>
              <a:rPr lang="en-US" dirty="0"/>
              <a:t>MLE based estimators often require models for confounders (challenge: complex confounder sampling)</a:t>
            </a:r>
          </a:p>
          <a:p>
            <a:r>
              <a:rPr lang="en-US" dirty="0"/>
              <a:t>Confounder measurements typically assumed at regular time intervals (challenge: misaligned with sampling times)</a:t>
            </a:r>
          </a:p>
          <a:p>
            <a:r>
              <a:rPr lang="en-US" dirty="0"/>
              <a:t>Existing case-control study designs and analysis methods will generally </a:t>
            </a:r>
            <a:r>
              <a:rPr lang="en-US" u="sng" dirty="0"/>
              <a:t>not</a:t>
            </a:r>
            <a:r>
              <a:rPr lang="en-US" dirty="0"/>
              <a:t> be able to accommodate these problems</a:t>
            </a:r>
          </a:p>
          <a:p>
            <a:r>
              <a:rPr lang="en-US" dirty="0"/>
              <a:t>Not specifically addressed in any reviewed paper, but a potential methodologic gap worth exploring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FF01E-8C3A-7E27-0324-1E0F459C8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9</a:t>
            </a:fld>
            <a:endParaRPr lang="fr-CA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EA8680-210F-0F01-EE42-A26A738072B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407986" y="2964069"/>
            <a:ext cx="2346960" cy="149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880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25CA5-F939-D725-F949-B63B7BE1C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causal inference, really?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0C22-FE84-BB0A-409D-7D54D084A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propensity scores or other methods?</a:t>
            </a:r>
          </a:p>
          <a:p>
            <a:r>
              <a:rPr lang="en-US" dirty="0"/>
              <a:t>Controlling confounding?</a:t>
            </a:r>
          </a:p>
          <a:p>
            <a:r>
              <a:rPr lang="en-US" dirty="0"/>
              <a:t>Marginal parameters?</a:t>
            </a:r>
          </a:p>
          <a:p>
            <a:r>
              <a:rPr lang="en-US" dirty="0"/>
              <a:t>Non-model-based parameters?</a:t>
            </a:r>
          </a:p>
          <a:p>
            <a:r>
              <a:rPr lang="en-US" dirty="0"/>
              <a:t>Target trial/new user designs?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35A35-BA88-4624-B0D1-31F12BB74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10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49111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667E9-4903-ECD7-47C9-29F211D90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DCA3D-B64E-84BC-AE37-071F993D5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methods of causal inference have been *heavily* focused on closed cohorts</a:t>
            </a:r>
          </a:p>
          <a:p>
            <a:r>
              <a:rPr lang="en-US" dirty="0"/>
              <a:t>Case-control studies still have a place for understanding impacts of emergent exposures and diseases with long latency (e.g. cancer outcomes)</a:t>
            </a:r>
          </a:p>
          <a:p>
            <a:r>
              <a:rPr lang="en-US" dirty="0"/>
              <a:t>Existing methods yield helpful data summaries of existing case-control studies, but addressing temporality and other aspects like time-varying confounding may require novel study designs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350D1-A74F-8A3B-7CC2-BD2A53DC9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11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555637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17160-F73D-F399-4CA2-23A86FBC73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CFFD20D-3E67-D3CA-598E-F54FFFE373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9C51E-7E97-2AA4-D46C-31EA82229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31148-FC8D-4BA7-8E33-B3075D7E22F0}" type="slidenum">
              <a:rPr lang="fr-CA" smtClean="0"/>
              <a:t>12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0743186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"/>
  <p:tag name="ORIGINALWIDTH" val=" 24"/>
  <p:tag name="OUTPUTTYPE" val="PDF"/>
  <p:tag name="IGUANATEXVERSION" val="162"/>
  <p:tag name="LATEXADDIN" val="%!TEX program = LuaLaTeX&#10;\documentclass{standalone}&#10;\pagestyle{empty}&#10;\usepackage{unicode-math}&#10;\usepackage{fontspec} % requires XeTeX or LuaLaTeX&#10;\setsansfont[BoldFont={Fira Sans Ultra}]{Fira Sans}&#10;\setmainfont[BoldFont={Fira Sans Ultra}]{Fira Sans}&#10;\setmathfont{Fira Math Regular}&#10;&#10;    \usepackage{tikz}&#10;    \usetikzlibrary{mindmap,backgrounds, snakes, shapes, positioning}&#10;&#10;\begin{document}&#10;$\psi(P^0_n)$&#10;&#10;&#10;\end{document}"/>
  <p:tag name="IGUANATEXSIZE" val="18"/>
  <p:tag name="IGUANATEXCURSOR" val="199"/>
  <p:tag name="TRANSPARENCY" val="True"/>
  <p:tag name="CHOOSECOLOR" val="False"/>
  <p:tag name="COLORHEX" val="000000"/>
  <p:tag name="LATEXENGINEID" val="3"/>
  <p:tag name="TEMPFOLDER" val="/Users/keilap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"/>
  <p:tag name="ORIGINALWIDTH" val=" 24"/>
  <p:tag name="OUTPUTTYPE" val="PDF"/>
  <p:tag name="IGUANATEXVERSION" val="162"/>
  <p:tag name="LATEXADDIN" val="%!TEX program = LuaLaTeX&#10;\documentclass{standalone}&#10;\pagestyle{empty}&#10;\usepackage{unicode-math}&#10;\usepackage{fontspec} % requires XeTeX or LuaLaTeX&#10;\setsansfont[BoldFont={Fira Sans Ultra}]{Fira Sans}&#10;\setmainfont[BoldFont={Fira Sans Ultra}]{Fira Sans}&#10;\setmathfont{Fira Math Regular}&#10;&#10;    \usepackage{tikz}&#10;    \usetikzlibrary{mindmap,backgrounds, snakes, shapes, positioning}&#10;&#10;\begin{document}&#10;$\psi(P^*_{n})$&#10;&#10;&#10;\end{document}"/>
  <p:tag name="IGUANATEXSIZE" val="18"/>
  <p:tag name="IGUANATEXCURSOR" val="406"/>
  <p:tag name="TRANSPARENCY" val="True"/>
  <p:tag name="CHOOSECOLOR" val="False"/>
  <p:tag name="COLORHEX" val="000000"/>
  <p:tag name="LATEXENGINEID" val="3"/>
  <p:tag name="TEMPFOLDER" val="/Users/keilap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8"/>
  <p:tag name="ORIGINALWIDTH" val=" 5"/>
  <p:tag name="OUTPUTTYPE" val="PDF"/>
  <p:tag name="IGUANATEXVERSION" val="162"/>
  <p:tag name="LATEXADDIN" val="%!TEX program = LuaLaTeX&#10;\documentclass{standalone}&#10;\pagestyle{empty}&#10;\usepackage{unicode-math}&#10;\usepackage{fontspec} % requires XeTeX or LuaLaTeX&#10;\setsansfont[BoldFont={Fira Sans Ultra}]{Fira Sans}&#10;\setmainfont[BoldFont={Fira Sans Ultra}]{Fira Sans}&#10;\setmathfont{Fira Math Regular}&#10;&#10;    \usepackage{tikz}&#10;    \usetikzlibrary{mindmap,backgrounds, snakes, shapes, positioning}&#10;&#10;\begin{document}&#10;$\hat\epsilon$&#10;&#10;&#10;\end{document}"/>
  <p:tag name="IGUANATEXSIZE" val="18"/>
  <p:tag name="IGUANATEXCURSOR" val="407"/>
  <p:tag name="TRANSPARENCY" val="True"/>
  <p:tag name="CHOOSECOLOR" val="False"/>
  <p:tag name="COLORHEX" val="000000"/>
  <p:tag name="LATEXENGINEID" val="3"/>
  <p:tag name="TEMPFOLDER" val="/Users/keilap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9"/>
  <p:tag name="ORIGINALWIDTH" val=" 77"/>
  <p:tag name="OUTPUTTYPE" val="PDF"/>
  <p:tag name="IGUANATEXVERSION" val="162"/>
  <p:tag name="LATEXADDIN" val="\documentclass{standalone}&#10;\pagestyle{empty}&#10;\usepackage{fontspec} % requires XeTeX or LuaLaTeX&#10;\setsansfont[BoldFont={Fira Sans Ultra}]{Fira Sans}&#10;\setmainfont[BoldFont={Fira Sans Ultra}]{Fira Sans}&#10;    \usepackage{tikz}&#10;    \usetikzlibrary{mindmap,backgrounds, snakes, shapes, positioning}&#10;&#10;\begin{document}&#10;&#10; \begin{tikzpicture}[&gt;=latex, line join=bevel, very thick, node distance=0.75cm]&#10;       %&#10;             \node[](x){$X_0$};&#10;             %\node[above =of x, shift={(0,-0.2)}] (z0) {$Z_0$};&#10;             \node[above right=of x] (z1) {$Z_1$};&#10;             \node[right =of x] (x1) {$X_1$};&#10;             \node[below right=of z1] (y) {$Y$};&#10;             %\node[above left= of x, shift={(1,0)}](L){Non-differential};&#10;             %&#10;             %\path[-latex] (z0) edge[] (x);  &#10;             \path[-latex] (x) edge[] (z1);  &#10;             \path[-latex] (z1) edge[] (x1);  &#10;             \path[-latex] (z1) edge[] (y);  &#10;             \path[-latex] (x) edge[bend right] (y);  &#10;             \path[-latex] (x1) edge[] (y);  &#10;          \end{tikzpicture} &#10;&#10;&#10;&#10;\end{document}"/>
  <p:tag name="IGUANATEXSIZE" val="24"/>
  <p:tag name="IGUANATEXCURSOR" val="579"/>
  <p:tag name="TRANSPARENCY" val="True"/>
  <p:tag name="CHOOSECOLOR" val="False"/>
  <p:tag name="COLORHEX" val="000000"/>
  <p:tag name="LATEXENGINEID" val="3"/>
  <p:tag name="TEMPFOLDER" val="/Users/keilap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heme/theme1.xml><?xml version="1.0" encoding="utf-8"?>
<a:theme xmlns:a="http://schemas.openxmlformats.org/drawingml/2006/main" name="Colis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TM10001115[[fn=Colis]]</Template>
  <TotalTime>16577</TotalTime>
  <Words>883</Words>
  <Application>Microsoft Macintosh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American Typewriter</vt:lpstr>
      <vt:lpstr>Aptos</vt:lpstr>
      <vt:lpstr>Arial</vt:lpstr>
      <vt:lpstr>Gill Sans MT</vt:lpstr>
      <vt:lpstr>Colis</vt:lpstr>
      <vt:lpstr>Targeted maximum likelihood estimation – Case control studies</vt:lpstr>
      <vt:lpstr>Targeted maximum likelihood estimation – Case control studies</vt:lpstr>
      <vt:lpstr>TMLE algorithm</vt:lpstr>
      <vt:lpstr>TMLE</vt:lpstr>
      <vt:lpstr>R Code</vt:lpstr>
      <vt:lpstr>Challenges and limitations of current approaches</vt:lpstr>
      <vt:lpstr>”Causal” odds ratios</vt:lpstr>
      <vt:lpstr>Case/Control sampling</vt:lpstr>
      <vt:lpstr>Time-varying confounders affected by prior exposures</vt:lpstr>
      <vt:lpstr>What is causal inference, really?</vt:lpstr>
      <vt:lpstr>Closing thoughts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Mésidor, Miceline</dc:creator>
  <cp:lastModifiedBy>Keil, Alexander (NIH/NCI) [E]</cp:lastModifiedBy>
  <cp:revision>56</cp:revision>
  <dcterms:created xsi:type="dcterms:W3CDTF">2025-10-03T14:08:43Z</dcterms:created>
  <dcterms:modified xsi:type="dcterms:W3CDTF">2025-12-03T18:07:13Z</dcterms:modified>
</cp:coreProperties>
</file>